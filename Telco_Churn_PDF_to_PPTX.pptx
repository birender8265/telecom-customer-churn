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5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544"/>
                </a:solidFill>
                <a:latin typeface="Arial"/>
              </a:rPr>
              <a:t>Churn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5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544"/>
                </a:solidFill>
                <a:latin typeface="Arial"/>
              </a:rPr>
              <a:t>Churn by Internet Service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DSL</c:v>
                  </c:pt>
                  <c:pt idx="1">
                    <c:v>No service</c:v>
                  </c:pt>
                  <c:pt idx="2">
                    <c:v>Fiber optic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7.4</c:v>
                </c:pt>
                <c:pt idx="2">
                  <c:v>41.9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5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544"/>
                </a:solidFill>
                <a:latin typeface="Arial"/>
              </a:rPr>
              <a:t>Churn by Tenure Cohort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E7C86"/>
            </a:solidFill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0-12 mo</c:v>
                  </c:pt>
                  <c:pt idx="1">
                    <c:v>13-24 mo</c:v>
                  </c:pt>
                  <c:pt idx="2">
                    <c:v>25-48 mo</c:v>
                  </c:pt>
                  <c:pt idx="3">
                    <c:v>49-72 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47.7</c:v>
                </c:pt>
                <c:pt idx="1">
                  <c:v>24.9</c:v>
                </c:pt>
                <c:pt idx="2">
                  <c:v>14.9</c:v>
                </c:pt>
                <c:pt idx="3">
                  <c:v>6.6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Fiber optic</c:v>
                  </c:pt>
                  <c:pt idx="1">
                    <c:v>Senior citizen</c:v>
                  </c:pt>
                  <c:pt idx="2">
                    <c:v>Month-to-month</c:v>
                  </c:pt>
                  <c:pt idx="3">
                    <c:v>Electronic check</c:v>
                  </c:pt>
                  <c:pt idx="4">
                    <c:v>Tenure &lt; 12 mo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41.9</c:v>
                </c:pt>
                <c:pt idx="1">
                  <c:v>41.7</c:v>
                </c:pt>
                <c:pt idx="2">
                  <c:v>42.7</c:v>
                </c:pt>
                <c:pt idx="3">
                  <c:v>45.3</c:v>
                </c:pt>
                <c:pt idx="4">
                  <c:v>47.7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Retain 1 customer</c:v>
                  </c:pt>
                  <c:pt idx="1">
                    <c:v>Acquire 1 customer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54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544"/>
                </a:solidFill>
                <a:latin typeface="Arial"/>
              </a:rPr>
              <a:t>Net Annual Value Saved by Retention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Annual Value ($)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5%</c:v>
                  </c:pt>
                  <c:pt idx="1">
                    <c:v>10%</c:v>
                  </c:pt>
                  <c:pt idx="2">
                    <c:v>15%</c:v>
                  </c:pt>
                  <c:pt idx="3">
                    <c:v>20%</c:v>
                  </c:pt>
                  <c:pt idx="4">
                    <c:v>25%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101169</c:v>
                </c:pt>
                <c:pt idx="1">
                  <c:v>202339</c:v>
                </c:pt>
                <c:pt idx="2">
                  <c:v>303508</c:v>
                </c:pt>
                <c:pt idx="3">
                  <c:v>404678</c:v>
                </c:pt>
                <c:pt idx="4">
                  <c:v>505847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02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Telco Customer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788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34440" y="2788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3264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34440" y="32644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Matplotlib · Seaborn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3739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34440" y="3739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 × 21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42153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34440" y="4215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(Yes / No)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411480"/>
            <a:ext cx="2011680" cy="18745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731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7,043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411480"/>
            <a:ext cx="2011680" cy="18745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731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26.5%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4944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2011680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1,869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70916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2606040"/>
            <a:ext cx="2011680" cy="1874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2926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$1.45M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49440" y="3886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4754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 Dataset  |  Class balance: 73.5% No / 26.5% Yes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44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Problem Statement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15819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matters and what we set out to answer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92040" y="105156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51560"/>
            <a:ext cx="502920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44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11430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 &amp; Data Cleaning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0" y="15819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records, 21 features, 4 cleaning steps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13432"/>
            <a:ext cx="502920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404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284378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charts: distributions, patterns, correlations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313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313432"/>
            <a:ext cx="502920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404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&amp; Insights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0" y="284378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segments, numeric comparisons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75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75304"/>
            <a:ext cx="502920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36667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Case — Retention ROI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1560" y="41056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5 retention scenarios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3575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575304"/>
            <a:ext cx="502920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36667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0" y="41056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targeted, data-backed interventions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Business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37673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24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company loses customers every month. Each churned customer means: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2084832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monthly recurring revenue (avg $64.80/mo)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replacement cost to acquire a new customer (~$324)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Forfeited lifetime value of the relationship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negative word-of-mouth to other customers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market share loss to competitors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3977640" cy="376732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91440" cy="37673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0241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Analytical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536192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is most likely to churn (high-risk segments)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they churn — key behavioural drivers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revenue at risk in exact dollar terms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financial business case for a retention programme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targeted, data-backed intervention strategies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Dataset Overview &amp; Data Cleaning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508760" cy="100584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7,043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39696" y="932688"/>
            <a:ext cx="1508760" cy="10058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39696" y="1005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39696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22192" y="932688"/>
            <a:ext cx="150876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22192" y="1005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22192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04688" y="932688"/>
            <a:ext cx="150876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04688" y="1005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4688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187184" y="932688"/>
            <a:ext cx="1508760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87184" y="1005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87184" y="1554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1762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 Categories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78608"/>
          <a:ext cx="4160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gender, SeniorCitizen, Partner, Dependents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tenure, Contract, PaymentMethod, PaperlessBilling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PhoneService, InternetService, Security, TechSupport, Streaming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MonthlyCharges, TotalCharges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(Yes / No)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846320" y="21762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Cleaning Steps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2578608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2578608"/>
            <a:ext cx="384048" cy="548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268833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21808" y="26151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TotalCharges type fix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321808" y="28529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string due to blank values for new customers. Fixed with pd.to_numeric(errors='coerce').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46320" y="320954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3209544"/>
            <a:ext cx="384048" cy="548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331927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321808" y="3246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value removal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321808" y="34838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rows (tenure=0) dropped via dropna(). Data loss = 0.16% — negligible.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846320" y="384048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46320" y="3840480"/>
            <a:ext cx="384048" cy="548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46320" y="395020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21808" y="3877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check (IQR)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21808" y="4114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1.5×IQR fence applied to MonthlyCharges. Result: 0 outliers. No capping needed.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846320" y="4471416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846320" y="4471416"/>
            <a:ext cx="384048" cy="548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46320" y="45811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321808" y="45079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321808" y="47457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ChurnBin (0/1) and TenureBand cohort column created for analysis.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EDA — Variable Distributions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histograms compare churned vs retained. density=True normalises both groups to the same y-scale despite unequal sizes (1,869 churned vs 5,174 retained).</a:t>
            </a:r>
            <a:endParaRPr lang="en-US" sz="950" dirty="0"/>
          </a:p>
        </p:txBody>
      </p:sp>
      <p:pic>
        <p:nvPicPr>
          <p:cNvPr id="4" name="Image 0" descr="/home/claude/fig1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8229600" cy="2487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Tenure (left)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41513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 pile up at 0-20 months — churners are new customers. Green bars spread across all tenure. Long-tenure customers almost never leave.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310128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379476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Charges (middle)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0" y="41513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 lean toward higher $. Churned avg: $74.4/mo vs $61.3/mo retained. Higher bills = value perception pressure.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63056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63056" y="3794760"/>
            <a:ext cx="73152" cy="10972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Charges (right)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327648" y="41513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have higher totals — mainly because they stayed longer. TotalCharges is largely a proxy for tenure.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EDA — Category Distributions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measuring churn rates, we need sample composition. These charts count customers per category — essential context for interpreting any segment-level rates.</a:t>
            </a:r>
            <a:endParaRPr lang="en-US" sz="950" dirty="0"/>
          </a:p>
        </p:txBody>
      </p:sp>
      <p:pic>
        <p:nvPicPr>
          <p:cNvPr id="4" name="Image 0" descr="/home/claude/fig2_categ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8229600" cy="2487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Contract type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41513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dominates: 3,875 customers (55%). Most of the base has zero switching cost — they can leave any month.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310128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3794760"/>
            <a:ext cx="73152" cy="10972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Internet service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0" y="41513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is largest: 3,096 customers (44%). Critical because fiber optic has one of the highest churn rates (41.9%).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63056" y="379476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63056" y="379476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38587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method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327648" y="415137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is most popular: 2,365 (34%). This is also the highest-churn payment method — a large, dangerous overlap.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EDA — Churn Patterns by Segment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04672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566160" y="804672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6492240" y="804672"/>
          <a:ext cx="2377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2"/>
          <p:cNvSpPr/>
          <p:nvPr/>
        </p:nvSpPr>
        <p:spPr>
          <a:xfrm>
            <a:off x="457200" y="3730752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58368" y="3785616"/>
            <a:ext cx="7909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 #1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gap between month-to-month (42.7%) and two-year (2.8%) contracts. Contract type is the single biggest lever.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 #2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drops from 47.7% (0-12 mo) → 6.6% (49-72 mo). If a customer survives year one, they are almost certainly yours forever.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EDA — Correlation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correlation: values from -1 to +1. Near -1 = inverse relationship. Near +1 = direct relationship. ChurnBin included to directly show which features predict churn.</a:t>
            </a:r>
            <a:endParaRPr lang="en-US" sz="950" dirty="0"/>
          </a:p>
        </p:txBody>
      </p:sp>
      <p:pic>
        <p:nvPicPr>
          <p:cNvPr id="4" name="Image 0" descr="/home/claude/fig4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4114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Interpretation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72768"/>
          <a:ext cx="38404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858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→ Churn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signal. More months = much lower churn.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TotalCharges → Churn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because high spend = stayed long (proxy for tenure).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MonthlyCharges → Churn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bill = slight churn signal. Value perception gap.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→ TotalCharges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 — total charges is mostly tenure × rate.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46320" y="340156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846320" y="3401568"/>
            <a:ext cx="64008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10912" y="34198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Tenure (r = -0.354)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010912" y="36393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predictor. Higher tenure = much lower churn. Tenure is the most protective factor the company can nurture.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846320" y="395020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3950208"/>
            <a:ext cx="64008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10912" y="3968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MonthlyCharges (+0.193)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010912" y="4187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more per month = slightly more likely to churn. Customers feel the cost but may not perceive matching value.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846320" y="4498848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4498848"/>
            <a:ext cx="64008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10912" y="4517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TotalCharges (-0.199)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010912" y="4736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but it's mainly a proxy for tenure. Longer-stay = more cumulative spend. Not an independent signal.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Key Findings — Churn Risk Factors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2296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822960"/>
            <a:ext cx="306324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23560" y="85953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47.7%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23560" y="14264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&lt; 12 months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23560" y="1938528"/>
            <a:ext cx="306324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19751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45.3%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623560" y="2542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23560" y="3054096"/>
            <a:ext cx="306324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23560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42.7%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23560" y="3657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519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&lt; 12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+21.2pp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check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+18.8pp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+16.2pp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optic internet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+15.4pp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Two-year contract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-23.7pp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Key Findings — Churned vs Retained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241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 Tenure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23317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18.0 months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233172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37.7 months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Diff: -19.7 months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0128" y="932688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0241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15727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Charges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93008" y="1993392"/>
            <a:ext cx="23317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93008" y="2267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$74.4 / mo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493008" y="2907792"/>
            <a:ext cx="233172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2926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93008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$61.3 / 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10128" y="3822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Diff: +$13.1 / month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3056" y="932688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63056" y="10241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63056" y="15727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Charges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45936" y="1993392"/>
            <a:ext cx="233172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2011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45936" y="22677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$1,532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45936" y="2907792"/>
            <a:ext cx="2331720" cy="8229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29260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5936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$2,556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63056" y="3822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Diff: -$1,024 lifetime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617720"/>
            <a:ext cx="7315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6542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MORE per month but stay LESS — the classic value perception gap. They never reached the total charges level of loyal customers.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Business Case — Unit Economics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920240" cy="12344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$64.80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revenue / customer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78608" y="932688"/>
            <a:ext cx="192024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78608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1,869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78608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churned customers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0016" y="932688"/>
            <a:ext cx="19202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0016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0016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1 customer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21424" y="932688"/>
            <a:ext cx="192024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21424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21424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RETAIN 1 customer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31720"/>
            <a:ext cx="91440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3774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10× RULE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688336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$324 (5× avg monthly). Retaining an existing one costs only $32 (0.5× monthly). That is a 10× cost difference — every retained customer generates revenue recovery at 10× the efficiency of finding a replacement.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393192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566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$1,454,124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(1,869 churners × $64.80 × 12 months)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0" y="3401568"/>
          <a:ext cx="41148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Business Case — Retention ROI Scenarios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804672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715000" y="804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Scenario breakdown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188720"/>
          <a:ext cx="29718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68580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$101K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$202K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$304K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$506K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15000" y="2971800"/>
            <a:ext cx="29718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06440" y="30358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Formula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806440" y="3328416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revenue_saved = retained × $64.80 × 12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cost_to_retain = retained × $64.80 × 0.5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revenue_saved − cost_to_retain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224528"/>
            <a:ext cx="8229600" cy="71323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57200" y="4224528"/>
            <a:ext cx="9144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27024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at risk: $1.45M. Retaining just 15% of churners saves $303K net/year at a 10:1 cost ratio vs acquisition. The case for a retention programme is unambiguous.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targeted interventions — each grounded in a specific finding from the EDA, prioritised by estimated impact.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15568"/>
            <a:ext cx="502920" cy="1783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 Month-to-Month to Annual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591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month-to-month customers, tenure 12-24 months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883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10-15% discount to upgrade to annual plans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2176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15x churn rate gap vs two-year contracts — highest ROI lever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15568"/>
            <a:ext cx="502920" cy="17830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4924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Onboarding Loyalty Programme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591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customers in first 12 months (47.7% churn)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49240" y="1883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check-ins at month 3 &amp; 6, loyalty credits or add-ons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49240" y="2176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surviving year one halves churn risk from 47.7% to 24.9%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81528"/>
            <a:ext cx="502920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51560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Fiber Optic Value Communication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557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3,096 fiber optic customers (41.9% churn rate)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1560" y="38496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dedicated support channel, transparent billing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51560" y="4142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premium price + high churn = perceived value gap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3081528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81528"/>
            <a:ext cx="502920" cy="1783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49240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5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Electronic Check Auto-Pay Migration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557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2,365 electronic check users (45.3% churn)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349240" y="38496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$5/mo discount to switch to auto-pay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49240" y="41422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lowest cost intervention, removes disengagement signal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5486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of customers churn — 1 in 4 leaves every period, putting $1.45M at risk annually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(42.7%) vs two-year (2.8%) contracts = 15× gap — contract conversion is the #1 lever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 = critical window — 47.7% churn drops to 6.6% by year four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(r = -0.354) is the strongest predictor — protecting new customers is the most impactful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10× cheaper than acquisition ($32 vs $324) — ROI case is unambiguous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interventions address all 5 risk segments: contract upgrade, onboarding, fiber comms, auto-pay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46520" y="804672"/>
            <a:ext cx="2331720" cy="4041648"/>
          </a:xfrm>
          <a:prstGeom prst="rect">
            <a:avLst/>
          </a:prstGeom>
          <a:solidFill>
            <a:srgbClr val="162B47"/>
          </a:solidFill>
          <a:ln w="12700">
            <a:solidFill>
              <a:srgbClr val="1C3A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932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371600"/>
            <a:ext cx="2148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  |  IBM Telco Churn Dataset  |  7,043 customers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 — Full Report</dc:title>
  <dc:subject>PptxGenJS Presentation</dc:subject>
  <dc:creator>PptxGenJS</dc:creator>
  <cp:lastModifiedBy>PptxGenJS</cp:lastModifiedBy>
  <cp:revision>1</cp:revision>
  <dcterms:created xsi:type="dcterms:W3CDTF">2026-04-30T02:58:31Z</dcterms:created>
  <dcterms:modified xsi:type="dcterms:W3CDTF">2026-04-30T02:58:31Z</dcterms:modified>
</cp:coreProperties>
</file>